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3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A7BEA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E7E8D1">
              <a:alpha val="15000"/>
            </a:srgbClr>
          </a:solidFill>
          <a:ln/>
        </p:spPr>
      </p:sp>
      <p:pic>
        <p:nvPicPr>
          <p:cNvPr id="5" name="Image 0" descr="/home/claude/ngila_deck/icons/map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ECONOMY CHALLENGE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NGILA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your local economy.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for the street economy — built by the community.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5074920"/>
            <a:ext cx="2926080" cy="0"/>
          </a:xfrm>
          <a:prstGeom prst="line">
            <a:avLst/>
          </a:prstGeom>
          <a:noFill/>
          <a:ln w="19050">
            <a:solidFill>
              <a:srgbClr val="A7BE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 ·  TEAM [YOUR TEAM NAME]  ·  25 AUG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street economy is invisible online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6" name="Image 0" descr="/home/claude/ngila_deck/icons/eyeOff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presence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1762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street vendors have no website, listing, or map pin — only word-of-mouth.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0" name="Image 1" descr="/home/claude/ngila_deck/icons/mapPin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632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898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address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71600" y="3227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may only be known as “next to the taxi rank” — hard to search or navigate to.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4" name="Image 2" descr="/home/claude/ngila_deck/icons/star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950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 signal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71600" y="42793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can't check quality, price, or reliability before they arrive.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8" name="Image 3" descr="/home/claude/ngila_deck/icons/smartphone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1663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001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onboard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71600" y="5330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every trader to build a profile themselves stalls adoption before it starts.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B85042"/>
          </a:solidFill>
          <a:ln/>
        </p:spPr>
      </p:sp>
      <p:sp>
        <p:nvSpPr>
          <p:cNvPr id="22" name="Text 16"/>
          <p:cNvSpPr/>
          <p:nvPr/>
        </p:nvSpPr>
        <p:spPr>
          <a:xfrm>
            <a:off x="6675120" y="21488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21.4%</a:t>
            </a:r>
            <a:endParaRPr lang="en-US" sz="6000" dirty="0"/>
          </a:p>
        </p:txBody>
      </p:sp>
      <p:sp>
        <p:nvSpPr>
          <p:cNvPr id="23" name="Text 17"/>
          <p:cNvSpPr/>
          <p:nvPr/>
        </p:nvSpPr>
        <p:spPr>
          <a:xfrm>
            <a:off x="6675120" y="3108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employment in South Africa is in the informal sector — the second-largest source of jobs after formal work (Stats SA, Q4 2025).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675120" y="4251960"/>
            <a:ext cx="4663440" cy="0"/>
          </a:xfrm>
          <a:prstGeom prst="line">
            <a:avLst/>
          </a:prstGeom>
          <a:noFill/>
          <a:ln w="9525">
            <a:solidFill>
              <a:srgbClr val="E7E8D1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675120" y="4389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~7.8M</a:t>
            </a:r>
            <a:endParaRPr lang="en-US" sz="3400" dirty="0"/>
          </a:p>
        </p:txBody>
      </p:sp>
      <p:sp>
        <p:nvSpPr>
          <p:cNvPr id="26" name="Text 20"/>
          <p:cNvSpPr/>
          <p:nvPr/>
        </p:nvSpPr>
        <p:spPr>
          <a:xfrm>
            <a:off x="6675120" y="495604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employed in SA's informal economy — nearly all discoverable only by word-of-mouth today (ILO / Stats SA).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discovery layer the community builds together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doesn't wait for vendors to go digital. Customers add the vendors they already know — vendors simply claim the profile later.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83464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8" name="Image 0" descr="/home/claude/ngila_deck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175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703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41605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Ngila, share location, and see every vendor nearby — formal or informal.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813048" y="38633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114800" y="251460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283464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5" name="Image 1" descr="/home/claude/ngila_deck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0175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665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434840" y="3703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adds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434840" y="41605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vendor who isn't listed? Add them in under a minute — name, category, pin, photo.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379208" y="38633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7680960" y="251460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01000" y="283464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2" descr="/home/claude/ngila_deck/icons/check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01752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3327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001000" y="3703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claims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001000" y="416052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finds their listing, verifies it, and takes control — profile, prices, hours.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student, hungry after class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story, end to 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00200" y="3246120"/>
            <a:ext cx="8988552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2953512"/>
            <a:ext cx="585216" cy="585216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8" name="Image 0" descr="/home/claude/ngila_deck/icons/smart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309981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Ngila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location, no sign-up friction.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54730" y="2953512"/>
            <a:ext cx="585216" cy="585216"/>
          </a:xfrm>
          <a:prstGeom prst="ellipse">
            <a:avLst/>
          </a:prstGeom>
          <a:solidFill>
            <a:srgbClr val="6E8B7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ngila_deck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034" y="30998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95778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“food”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95778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within 1 km, open now.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01868" y="2953512"/>
            <a:ext cx="585216" cy="585216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6" name="Image 2" descr="/home/claude/ngila_deck/icons/mapP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30998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42916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Mama Mary's Kitchen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042916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m away, 4.8★ rating, full menu visible.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49006" y="2953512"/>
            <a:ext cx="585216" cy="585216"/>
          </a:xfrm>
          <a:prstGeom prst="ellipse">
            <a:avLst/>
          </a:prstGeom>
          <a:solidFill>
            <a:srgbClr val="6E8B7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0" name="Image 3" descr="/home/claude/ngila_deck/icons/naviga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310" y="309981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90054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“Get Directions”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290054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straight there — no wrong turns.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10296144" y="2953512"/>
            <a:ext cx="585216" cy="585216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4" name="Image 4" descr="/home/claude/ngila_deck/icons/st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3099816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37192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 review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537192" y="4114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stars. The next hungry student finds her too.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7E8D1"/>
          </a:solidFill>
          <a:ln/>
        </p:spPr>
      </p:sp>
      <p:sp>
        <p:nvSpPr>
          <p:cNvPr id="28" name="Text 21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C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from “hungry” to “fed”: under 3 minutes — with zero setup for the vendor.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6E8B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“added by a stranger” to “verified business”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vendor's path onto the platform — no app download required until they're ready to claim.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29968" cy="329184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2606040"/>
            <a:ext cx="585216" cy="585216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8" name="Image 0" descr="/home/claude/ngila_deck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74320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33756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35935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Added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41148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adds the vendor's name, pin, category &amp; photo.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0" y="2331720"/>
            <a:ext cx="2029968" cy="329184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65576" y="2606040"/>
            <a:ext cx="585216" cy="585216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4" name="Image 1" descr="/home/claude/ngila_deck/icons/message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74320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333756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880360" y="35935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&amp; Reviewed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880360" y="41148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customers rate and review before the vendor even knows.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937760" y="2331720"/>
            <a:ext cx="2029968" cy="329184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60136" y="2606040"/>
            <a:ext cx="585216" cy="585216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0" name="Image 2" descr="/home/claude/ngila_deck/icons/check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74320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74920" y="333756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074920" y="35935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Claims It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074920" y="41148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finds their profile, taps “Claim this Business.”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132320" y="2331720"/>
            <a:ext cx="2029968" cy="329184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854696" y="2606040"/>
            <a:ext cx="585216" cy="585216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6" name="Image 3" descr="/home/claude/ngila_deck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74320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69480" y="333756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269480" y="35935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269480" y="41148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location check. Badge unlocked, full profile control.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326880" y="2331720"/>
            <a:ext cx="2029968" cy="3291840"/>
          </a:xfrm>
          <a:prstGeom prst="roundRect">
            <a:avLst>
              <a:gd name="adj" fmla="val 4505"/>
            </a:avLst>
          </a:prstGeom>
          <a:solidFill>
            <a:srgbClr val="B85042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049256" y="26060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4" descr="/home/claude/ngila_deck/icons/trendingUp_terracot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416" y="2743200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464040" y="333756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9464040" y="3593592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&amp; Growing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9464040" y="41148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adds products, prices, hours — sees real analytics.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ON DAY 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immediate, real-world 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cold-start problem. No vendor has to act first for the platform to have value.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6F6EE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450592"/>
            <a:ext cx="502920" cy="502920"/>
          </a:xfrm>
          <a:prstGeom prst="ellipse">
            <a:avLst/>
          </a:prstGeom>
          <a:solidFill>
            <a:srgbClr val="6E8B7C"/>
          </a:solidFill>
          <a:ln/>
        </p:spPr>
      </p:sp>
      <p:pic>
        <p:nvPicPr>
          <p:cNvPr id="8" name="Image 0" descr="/home/claude/ngila_deck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78608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3957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vendor onboarding needed to launch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populates the map from day one — vendors join once they see themselves listed.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21945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6F6EE"/>
          </a:solidFill>
          <a:ln/>
        </p:spPr>
      </p:sp>
      <p:sp>
        <p:nvSpPr>
          <p:cNvPr id="12" name="Shape 9"/>
          <p:cNvSpPr/>
          <p:nvPr/>
        </p:nvSpPr>
        <p:spPr>
          <a:xfrm>
            <a:off x="6519672" y="2450592"/>
            <a:ext cx="502920" cy="502920"/>
          </a:xfrm>
          <a:prstGeom prst="ellipse">
            <a:avLst/>
          </a:prstGeom>
          <a:solidFill>
            <a:srgbClr val="6E8B7C"/>
          </a:solidFill>
          <a:ln/>
        </p:spPr>
      </p:sp>
      <p:pic>
        <p:nvPicPr>
          <p:cNvPr id="13" name="Image 1" descr="/home/claude/ngila_deck/icons/smartph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578608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3957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UX, nothing to learn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78040" y="281635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map, review — patterns every smartphone user already knows from apps they use daily.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6F6EE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6E8B7C"/>
          </a:solidFill>
          <a:ln/>
        </p:spPr>
      </p:sp>
      <p:pic>
        <p:nvPicPr>
          <p:cNvPr id="18" name="Image 2" descr="/home/claude/ngila_deck/icons/mapP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498848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3159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 formal address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473659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pin + description (“next to the taxi rank”) is how vendors are already found — Ngila just digitises it.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41148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6F6EE"/>
          </a:solidFill>
          <a:ln/>
        </p:spPr>
      </p:sp>
      <p:sp>
        <p:nvSpPr>
          <p:cNvPr id="22" name="Shape 17"/>
          <p:cNvSpPr/>
          <p:nvPr/>
        </p:nvSpPr>
        <p:spPr>
          <a:xfrm>
            <a:off x="6519672" y="4370832"/>
            <a:ext cx="502920" cy="502920"/>
          </a:xfrm>
          <a:prstGeom prst="ellipse">
            <a:avLst/>
          </a:prstGeom>
          <a:solidFill>
            <a:srgbClr val="6E8B7C"/>
          </a:solidFill>
          <a:ln/>
        </p:spPr>
      </p:sp>
      <p:pic>
        <p:nvPicPr>
          <p:cNvPr id="23" name="Image 3" descr="/home/claude/ngila_deck/icons/gitBra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498848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3159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one taxi rank or market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178040" y="473659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dense, walkable location (e.g. a campus or CBD taxi rank) proves the loop in week one.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proven stack — built to ship fast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955280" cy="713232"/>
          </a:xfrm>
          <a:prstGeom prst="roundRect">
            <a:avLst>
              <a:gd name="adj" fmla="val 10256"/>
            </a:avLst>
          </a:prstGeom>
          <a:solidFill>
            <a:srgbClr val="4A4A4A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03120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ngila_deck/icons/smart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0208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246120" y="20208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TypeScript  ·  GPS &amp; Maps  ·  Camera  ·  Push Notifications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7955280" cy="713232"/>
          </a:xfrm>
          <a:prstGeom prst="roundRect">
            <a:avLst>
              <a:gd name="adj" fmla="val 10256"/>
            </a:avLst>
          </a:prstGeom>
          <a:solidFill>
            <a:srgbClr val="4A4A4A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3017520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/home/claude/ngila_deck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2724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9352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246120" y="29352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 ·  JWT Auth  ·  Search &amp; Filtering  ·  Role-based permissions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7955280" cy="713232"/>
          </a:xfrm>
          <a:prstGeom prst="roundRect">
            <a:avLst>
              <a:gd name="adj" fmla="val 10256"/>
            </a:avLst>
          </a:prstGeom>
          <a:solidFill>
            <a:srgbClr val="4A4A4A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3931920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7" name="Image 2" descr="/home/claude/ngila_deck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4164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8496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Geo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3246120" y="38496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 ·  Radius / nearby-vendor queries  ·  Cloud image storage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709160"/>
            <a:ext cx="7955280" cy="713232"/>
          </a:xfrm>
          <a:prstGeom prst="roundRect">
            <a:avLst>
              <a:gd name="adj" fmla="val 10256"/>
            </a:avLst>
          </a:prstGeom>
          <a:solidFill>
            <a:srgbClr val="4A4A4A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3232" y="4846320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3" descr="/home/claude/ngila_deck/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5604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76402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3246120" y="47640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/ Mapbox  ·  Push notification service  ·  Payment gateway (Phase 7)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343400" y="26517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343400" y="35661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343400" y="4480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778240" y="1965960"/>
            <a:ext cx="2834640" cy="4370832"/>
          </a:xfrm>
          <a:prstGeom prst="roundRect">
            <a:avLst>
              <a:gd name="adj" fmla="val 3226"/>
            </a:avLst>
          </a:prstGeom>
          <a:solidFill>
            <a:srgbClr val="8C3B31"/>
          </a:solidFill>
          <a:ln/>
        </p:spPr>
      </p:sp>
      <p:sp>
        <p:nvSpPr>
          <p:cNvPr id="29" name="Text 23"/>
          <p:cNvSpPr/>
          <p:nvPr/>
        </p:nvSpPr>
        <p:spPr>
          <a:xfrm>
            <a:off x="900684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ENTITIES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006840" y="251460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VendorClaim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Rating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OperatingHours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Hackathon-ready MVP scope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the loop that proves the concept: discover → add → claim → trust.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39776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3566160" cy="594360"/>
          </a:xfrm>
          <a:prstGeom prst="rect">
            <a:avLst/>
          </a:prstGeom>
          <a:solidFill>
            <a:srgbClr val="6E8B7C"/>
          </a:solidFill>
          <a:ln/>
        </p:spPr>
      </p:sp>
      <p:pic>
        <p:nvPicPr>
          <p:cNvPr id="8" name="Image 0" descr="/home/claude/ngila_deck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042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292608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nearby search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distance filters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profile + products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written reviews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Directions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vendor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566160" cy="39776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0832" y="2148840"/>
            <a:ext cx="3566160" cy="594360"/>
          </a:xfrm>
          <a:prstGeom prst="rect">
            <a:avLst/>
          </a:prstGeom>
          <a:solidFill>
            <a:srgbClr val="6E8B7C"/>
          </a:solidFill>
          <a:ln/>
        </p:spPr>
      </p:sp>
      <p:pic>
        <p:nvPicPr>
          <p:cNvPr id="13" name="Image 1" descr="/home/claude/ngila_deck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042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26864" y="292608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an existing listing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verification flow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 &amp; photos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&amp; prices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operating hours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93024" y="2148840"/>
            <a:ext cx="3566160" cy="39776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93024" y="2148840"/>
            <a:ext cx="3566160" cy="594360"/>
          </a:xfrm>
          <a:prstGeom prst="rect">
            <a:avLst/>
          </a:prstGeom>
          <a:solidFill>
            <a:srgbClr val="6E8B7C"/>
          </a:solidFill>
          <a:ln/>
        </p:spPr>
      </p:sp>
      <p:pic>
        <p:nvPicPr>
          <p:cNvPr id="18" name="Image 2" descr="/home/claude/ngila_deck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042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59952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49056" y="292608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claimed vendors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reviews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reports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fraudulent listings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small, dense, and word-of-mouth ready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ngila_deck/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6829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880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0–3 MO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9808" y="31363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Single-precinct pilot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3657600"/>
            <a:ext cx="2295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one high-foot-traffic node (e.g. a university precinct or taxi rank). Recruit 15–20 “founding” student/community ambassadors to seed 100+ vendor listings via the Add Vendor flow.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9312" y="22402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3" name="Image 1" descr="/home/claude/ngila_deck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3682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880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3–6 MO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611880" y="31363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activation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611880" y="3657600"/>
            <a:ext cx="2295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listed vendors through claiming in person. Gamified points drive customer reviews &amp; photos, deepening trust signals before wider launch.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72784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01384" y="22402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9" name="Image 2" descr="/home/claude/ngila_deck/icons/trending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68296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2880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6–12 MO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73952" y="31363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expansion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73952" y="3657600"/>
            <a:ext cx="2295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playbook precinct-by-precinct across Johannesburg, then Pretoria, Cape Town &amp; Durban — network effects compound as vendor density rises.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34856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63456" y="22402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5" name="Image 3" descr="/home/claude/ngila_deck/icons/handshak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2368296"/>
            <a:ext cx="246888" cy="2468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36024" y="2880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12 MO+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336024" y="313639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336024" y="3657600"/>
            <a:ext cx="22951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municipalities, universities and NGOs running informal-trader programmes to co-market and reach verified trader lists directly.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stays low: customers recruit vendors for free through the Add Vendor flow — CAC is community effort, not ad spend.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Monetise visibility, not access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community-adding stay free forever — revenue comes from vendors who want to grow, and partners who want reach.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E7E8D1"/>
          </a:solidFill>
          <a:ln/>
        </p:spPr>
      </p:sp>
      <p:sp>
        <p:nvSpPr>
          <p:cNvPr id="7" name="Shape 5"/>
          <p:cNvSpPr/>
          <p:nvPr/>
        </p:nvSpPr>
        <p:spPr>
          <a:xfrm>
            <a:off x="1586484" y="2587752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8" name="Image 0" descr="/home/claude/ngila_deck/icon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27249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3375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3794760"/>
            <a:ext cx="2295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pay a small monthly fee for top placement in nearby search results.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55848" y="233172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E7E8D1"/>
          </a:solidFill>
          <a:ln/>
        </p:spPr>
      </p:sp>
      <p:sp>
        <p:nvSpPr>
          <p:cNvPr id="12" name="Shape 9"/>
          <p:cNvSpPr/>
          <p:nvPr/>
        </p:nvSpPr>
        <p:spPr>
          <a:xfrm>
            <a:off x="4393692" y="2587752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3" name="Image 1" descr="/home/claude/ngila_deck/icons/trending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7249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3375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Analytics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20440" y="3794760"/>
            <a:ext cx="2295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dashboard: profile views, directions requested, most-viewed products.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233172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E7E8D1"/>
          </a:solidFill>
          <a:ln/>
        </p:spPr>
      </p:sp>
      <p:sp>
        <p:nvSpPr>
          <p:cNvPr id="17" name="Shape 13"/>
          <p:cNvSpPr/>
          <p:nvPr/>
        </p:nvSpPr>
        <p:spPr>
          <a:xfrm>
            <a:off x="7200900" y="2587752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2" descr="/home/claude/ngila_deck/icon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7249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33375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Sponsorship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27648" y="3794760"/>
            <a:ext cx="2295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local brands (delivery, fintech, telecoms) reach hyper-local audiences.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970264" y="2331720"/>
            <a:ext cx="2624328" cy="2743200"/>
          </a:xfrm>
          <a:prstGeom prst="roundRect">
            <a:avLst>
              <a:gd name="adj" fmla="val 3484"/>
            </a:avLst>
          </a:prstGeom>
          <a:solidFill>
            <a:srgbClr val="E7E8D1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08108" y="2587752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3" name="Image 3" descr="/home/claude/ngila_deck/icons/handshak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268" y="272491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34856" y="33375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134856" y="3794760"/>
            <a:ext cx="2295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Municipalities, mobile networks &amp; development programmes pay for aggregated, anonymised local-economy insight.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3A3A3A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349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belief: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community layer is the acquisition engine. Every added vendor and review compounds the data asset that paid tiers monetise later — supply-side growth funds the business model.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skills to build this now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names/photos below with your actual team — capabilities map directly onto the architecture on slide 7.]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24328" cy="38404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76756" y="2441448"/>
            <a:ext cx="768096" cy="7680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8" name="Image 0" descr="/home/claude/ngila_deck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63347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3558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— Mobile Engineer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3867912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TypeScript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4343400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customer &amp; vendor app: GPS discovery, maps, camera, offline-friendly UI.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55848" y="2148840"/>
            <a:ext cx="2624328" cy="38404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83964" y="2441448"/>
            <a:ext cx="768096" cy="7680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4" name="Image 1" descr="/home/claude/ngila_deck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263347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3008" y="33558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— Backend Engineer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93008" y="3867912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 + PostgreSQL/PostGIS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38728" y="4343400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API: auth, geo-search, claim/verify workflow, review moderation.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63056" y="2148840"/>
            <a:ext cx="2624328" cy="38404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91172" y="2441448"/>
            <a:ext cx="768096" cy="7680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0" name="Image 2" descr="/home/claude/ngila_deck/icons/penToo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6" y="263347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0216" y="33558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— Product / UX Designer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300216" y="3867912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 user research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345936" y="4343400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customer &amp; vendor journeys, ensuring the flow works for low-connectivity, first-time app users.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970264" y="2148840"/>
            <a:ext cx="2624328" cy="38404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898380" y="2441448"/>
            <a:ext cx="768096" cy="768096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6" name="Image 3" descr="/home/claude/ngila_deck/icons/briefc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0404" y="2633472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07424" y="33558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— Product / GTM Lead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107424" y="3867912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strategy, partnerships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153144" y="4343400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pilot precinct rollout, vendor recruitment and community-ambassador programme.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C3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572000" cy="45720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HACKATHON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daily habit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76148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DB, auth, base APIs — the hackathon build.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450592" y="19202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9C5A50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20574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87752" y="23957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87752" y="276148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search, radius filters, map integration.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352544" y="19202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9C5A5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9704" y="20574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9704" y="23957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9704" y="276148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Add-vendor, claiming, verification, reviews.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54496" y="19202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9C5A50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20574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91656" y="23957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91656" y="276148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Favourites, gamification, notifications.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156448" y="19202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9C5A50"/>
          </a:solidFill>
          <a:ln/>
        </p:spPr>
      </p:sp>
      <p:sp>
        <p:nvSpPr>
          <p:cNvPr id="22" name="Text 20"/>
          <p:cNvSpPr/>
          <p:nvPr/>
        </p:nvSpPr>
        <p:spPr>
          <a:xfrm>
            <a:off x="8293608" y="20574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93608" y="23957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93608" y="276148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NL search, vendor analytics.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0058400" y="19202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9C5A50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5560" y="20574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95560" y="23957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195560" y="276148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Ordering, digital payments, delivery/collection.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11064240" cy="0"/>
          </a:xfrm>
          <a:prstGeom prst="line">
            <a:avLst/>
          </a:prstGeom>
          <a:noFill/>
          <a:ln w="9525">
            <a:solidFill>
              <a:srgbClr val="E7E8D1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it. Support it. Rate it. Grow it.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63040" y="461772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Ngila's mission: empower communities to digitally discover, support and grow the informal businesses that anchor their local economy.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023360" y="5394960"/>
            <a:ext cx="411480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0" y="5394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map, together.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Ngila · Street Economy Challenge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2026-08-24T22:17:11Z</dcterms:created>
  <dcterms:modified xsi:type="dcterms:W3CDTF">2026-08-24T22:17:11Z</dcterms:modified>
</cp:coreProperties>
</file>